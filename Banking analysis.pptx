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K Grotesk" charset="1" panose="00000500000000000000"/>
      <p:regular r:id="rId14"/>
    </p:embeddedFont>
    <p:embeddedFont>
      <p:font typeface="HK Grotesk Italics" charset="1" panose="00000500000000000000"/>
      <p:regular r:id="rId15"/>
    </p:embeddedFont>
    <p:embeddedFont>
      <p:font typeface="Glacial Indifference Bold" charset="1" panose="00000800000000000000"/>
      <p:regular r:id="rId16"/>
    </p:embeddedFont>
    <p:embeddedFont>
      <p:font typeface="Canva Sans Bold" charset="1" panose="020B0803030501040103"/>
      <p:regular r:id="rId17"/>
    </p:embeddedFont>
    <p:embeddedFont>
      <p:font typeface="Glacial Indifference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6414887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Insights on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1632" y="3377707"/>
            <a:ext cx="8984736" cy="28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BANKING </a:t>
            </a:r>
          </a:p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ANALYSIS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6061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Ananya Siddharth Patel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791427" y="231898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19485" t="0" r="-1948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9283162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ABOUT THE PROJECT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80023"/>
            <a:ext cx="7899970" cy="313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We were given a Banking dataset, where there is a real time data set of a marketing campaign run by a Portuguese Bank to sell term deposits to its prospective customers. From this dataset, we were asked to answer certain questions regarding the data and its interpretation.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070114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500831" y="1028700"/>
            <a:ext cx="4956202" cy="8229600"/>
          </a:xfrm>
          <a:custGeom>
            <a:avLst/>
            <a:gdLst/>
            <a:ahLst/>
            <a:cxnLst/>
            <a:rect r="r" b="b" t="t" l="l"/>
            <a:pathLst>
              <a:path h="8229600" w="4956202">
                <a:moveTo>
                  <a:pt x="4956202" y="0"/>
                </a:moveTo>
                <a:lnTo>
                  <a:pt x="0" y="0"/>
                </a:lnTo>
                <a:lnTo>
                  <a:pt x="0" y="8229600"/>
                </a:lnTo>
                <a:lnTo>
                  <a:pt x="4956202" y="8229600"/>
                </a:lnTo>
                <a:lnTo>
                  <a:pt x="495620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57033" y="5143500"/>
            <a:ext cx="500729" cy="5007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0" y="5889455"/>
            <a:ext cx="509211" cy="50921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745514" y="1848710"/>
            <a:ext cx="5330557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64956" y="2986754"/>
            <a:ext cx="9811115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data included a csv file with 45,211 rows and 18 columns ordered by date (from May 2008 to November 2010). The columns included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</a:t>
            </a:r>
          </a:p>
          <a:p>
            <a:pPr algn="r">
              <a:lnSpc>
                <a:spcPts val="4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10161" y="5120354"/>
            <a:ext cx="7501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Age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70387" y="5874792"/>
            <a:ext cx="62974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Job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48550" y="6646317"/>
            <a:ext cx="509211" cy="50921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57033" y="7403178"/>
            <a:ext cx="509211" cy="50921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48550" y="8160039"/>
            <a:ext cx="509211" cy="50921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110161" y="6631653"/>
            <a:ext cx="121483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Marital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10161" y="7388515"/>
            <a:ext cx="168027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Education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10161" y="8145376"/>
            <a:ext cx="12260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Default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130105" y="5135017"/>
            <a:ext cx="509211" cy="50921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791717" y="5120354"/>
            <a:ext cx="13366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Balance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130105" y="5889455"/>
            <a:ext cx="509211" cy="50921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819849" y="5874792"/>
            <a:ext cx="13646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Housing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130105" y="6646317"/>
            <a:ext cx="509211" cy="50921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819849" y="6627267"/>
            <a:ext cx="8236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Loan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30105" y="7403178"/>
            <a:ext cx="509211" cy="50921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782192" y="7336503"/>
            <a:ext cx="132923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Contact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130105" y="8160039"/>
            <a:ext cx="509211" cy="50921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845249" y="8145376"/>
            <a:ext cx="65692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Day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785617" y="5135017"/>
            <a:ext cx="509211" cy="509211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447228" y="5120354"/>
            <a:ext cx="10831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Month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785617" y="5889455"/>
            <a:ext cx="509211" cy="50921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475803" y="5874792"/>
            <a:ext cx="146714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Duration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785617" y="6646317"/>
            <a:ext cx="509211" cy="50921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345578" y="6605648"/>
            <a:ext cx="17275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Campaign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785617" y="7351167"/>
            <a:ext cx="509211" cy="509211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471338" y="7336503"/>
            <a:ext cx="103495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PDays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785617" y="8184228"/>
            <a:ext cx="509211" cy="509211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3423546" y="8143559"/>
            <a:ext cx="14078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Previous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5401763" y="5135017"/>
            <a:ext cx="509211" cy="509211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6063374" y="5120354"/>
            <a:ext cx="173444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POutcome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5401763" y="5889455"/>
            <a:ext cx="509211" cy="509211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479E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6120524" y="5874792"/>
            <a:ext cx="24953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225482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1637" y="3184998"/>
            <a:ext cx="8665431" cy="630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Age Distribution: The dataset includes clients across different age groups, with a relatively normal distribution.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Job Types: The most common job categories among clients include "blue-collar," "management," and "technician," with "student" and "retired" having lower counts.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Marital Status: The majority of clients are married, followed by single and divorced individuals.</a:t>
            </a:r>
          </a:p>
          <a:p>
            <a:pPr algn="just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Education Levels: Clients mostly have secondary education, followed by tertiary education and primary education.</a:t>
            </a:r>
          </a:p>
          <a:p>
            <a:pPr algn="just">
              <a:lnSpc>
                <a:spcPts val="387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184298" y="585643"/>
            <a:ext cx="5919405" cy="132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7"/>
              </a:lnSpc>
            </a:pPr>
            <a:r>
              <a:rPr lang="en-US" b="true" sz="905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6061" y="94202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22109" y="3184998"/>
            <a:ext cx="7137191" cy="58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Credit Default: Only 1.8% of clients have a credit default, suggesting that most clients are financially responsible.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Average Yearly Balance: The distribution is skewed, with a few clients having very high balances.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Loans: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</a:t>
            </a: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Housing Loan: Around 55.6% (25,130 clients) have a housing loan.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</a:t>
            </a: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Personal Loan: 16% (7,244 clients) have taken a personal loan.</a:t>
            </a:r>
          </a:p>
          <a:p>
            <a:pPr algn="l">
              <a:lnSpc>
                <a:spcPts val="387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1637" y="2271355"/>
            <a:ext cx="713719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Demographics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22109" y="2271355"/>
            <a:ext cx="713719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Indicators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225482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1637" y="3473409"/>
            <a:ext cx="8665431" cy="4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Communication Types: The bank mostly uses cellular communication, followed by telephone.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Last Contact Timing: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Day of Month: Clients are contacted throughout the month, with a slightly higher concentration towards month-end.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Month of Contact: Most contacts were made in May, followed by March, October, and September.</a:t>
            </a:r>
          </a:p>
          <a:p>
            <a:pPr algn="just">
              <a:lnSpc>
                <a:spcPts val="387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184298" y="585643"/>
            <a:ext cx="5919405" cy="132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7"/>
              </a:lnSpc>
            </a:pPr>
            <a:r>
              <a:rPr lang="en-US" b="true" sz="905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6061" y="94202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22109" y="3473409"/>
            <a:ext cx="7137191" cy="58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Number of Contacts per Client: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median number of contacts per client is 2.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Some clients were contacted up to 63 times, which might indicate excessive follow-ups.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Previous Campaign Interactions: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81.73% of clients were not contacted before.</a:t>
            </a:r>
          </a:p>
          <a:p>
            <a:pPr algn="l" marL="597746" indent="-298873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Clients with a successful previous outcome are more likely to subscribe again.</a:t>
            </a:r>
          </a:p>
          <a:p>
            <a:pPr algn="l">
              <a:lnSpc>
                <a:spcPts val="387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1637" y="2271355"/>
            <a:ext cx="713719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068" y="2271355"/>
            <a:ext cx="7962232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Campaign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225482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0607" y="3473923"/>
            <a:ext cx="9129361" cy="647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Overall Subscription Rate:Only 11.7% (5,294 clients) subscribed to a term deposit, while 88.3% (39,922 clients) did not.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Factors Correlated with Subscription:Positively correlated factors:Call Duration (highest impact): Longer calls increase the likelihood of conversion.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Success in Previous Campaigns: Clients with past successful subscriptions are more likely to subscribe again.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Contact in March, October, and September: Higher success rates in these months.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Clients who are retired or students: These groups show a higher interest in deposits.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Negatively correlated factors:Clients contacted in May: This month had lower success rates.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Clients with housing loans: Less likely to subscribe.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Clients contacted via "unknown" communication methods.</a:t>
            </a:r>
          </a:p>
          <a:p>
            <a:pPr algn="just">
              <a:lnSpc>
                <a:spcPts val="387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184298" y="585643"/>
            <a:ext cx="5919405" cy="132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7"/>
              </a:lnSpc>
            </a:pPr>
            <a:r>
              <a:rPr lang="en-US" b="true" sz="905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9129" y="94202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22109" y="3473923"/>
            <a:ext cx="7137191" cy="647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Prioritize clients with previous successful engagements as they are more likely to subscribe again.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Optimize contact timing by focusing more on March, October, and September, while reducing focus on May.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Avoid excessive contact attempts, as too many calls negatively impact conversions.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Target retired individuals and students more aggressively, as they have shown higher interest.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call duration strategically, ensuring meaningful conversations that maximize conversion chances.</a:t>
            </a:r>
          </a:p>
          <a:p>
            <a:pPr algn="l" marL="489799" indent="-244899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Re-evaluate the approach for clients with housing loans, as they tend to be less interested in term deposits.</a:t>
            </a:r>
          </a:p>
          <a:p>
            <a:pPr algn="l">
              <a:lnSpc>
                <a:spcPts val="387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1637" y="2270051"/>
            <a:ext cx="970245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Subscription to Term Deposits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068" y="2271355"/>
            <a:ext cx="7962232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148690"/>
            <a:ext cx="8115300" cy="7989621"/>
          </a:xfrm>
          <a:custGeom>
            <a:avLst/>
            <a:gdLst/>
            <a:ahLst/>
            <a:cxnLst/>
            <a:rect r="r" b="b" t="t" l="l"/>
            <a:pathLst>
              <a:path h="7989621" w="8115300">
                <a:moveTo>
                  <a:pt x="0" y="0"/>
                </a:moveTo>
                <a:lnTo>
                  <a:pt x="8115300" y="0"/>
                </a:lnTo>
                <a:lnTo>
                  <a:pt x="8115300" y="7989620"/>
                </a:lnTo>
                <a:lnTo>
                  <a:pt x="0" y="798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125" y="2320674"/>
            <a:ext cx="6142093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125" y="3745485"/>
            <a:ext cx="7395429" cy="264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analysis can help refine future marketing strategies to improve the efficiency and effectiveness of the bank's outreach efforts.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16061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Finlatics Case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51632" y="4451321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6061" y="8731279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Ananya Siddharth 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DAGhQ1wzTjQ</dc:identifier>
  <dcterms:modified xsi:type="dcterms:W3CDTF">2011-08-01T06:04:30Z</dcterms:modified>
  <cp:revision>1</cp:revision>
  <dc:title>Banking analysis</dc:title>
</cp:coreProperties>
</file>